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Кулінарія</c:v>
                </c:pt>
              </c:strCache>
            </c:strRef>
          </c:tx>
          <c:spPr>
            <a:solidFill>
              <a:srgbClr val="0B8F50"/>
            </a:solidFill>
          </c:spPr>
          <c:cat>
            <c:strRef>
              <c:f>Sheet1!$A$2:$A$13</c:f>
              <c:strCache>
                <c:ptCount val="12"/>
                <c:pt idx="0">
                  <c:v>Січ</c:v>
                </c:pt>
                <c:pt idx="1">
                  <c:v>Лют</c:v>
                </c:pt>
                <c:pt idx="2">
                  <c:v>Бер</c:v>
                </c:pt>
                <c:pt idx="3">
                  <c:v>Кві</c:v>
                </c:pt>
                <c:pt idx="4">
                  <c:v>Тра</c:v>
                </c:pt>
                <c:pt idx="5">
                  <c:v>Чер</c:v>
                </c:pt>
                <c:pt idx="6">
                  <c:v>Лип</c:v>
                </c:pt>
                <c:pt idx="7">
                  <c:v>Сер</c:v>
                </c:pt>
                <c:pt idx="8">
                  <c:v>Вер</c:v>
                </c:pt>
                <c:pt idx="9">
                  <c:v>Жов</c:v>
                </c:pt>
                <c:pt idx="10">
                  <c:v>Лис</c:v>
                </c:pt>
                <c:pt idx="11">
                  <c:v>Гру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</c:v>
                </c:pt>
                <c:pt idx="1">
                  <c:v>11.2</c:v>
                </c:pt>
                <c:pt idx="2">
                  <c:v>20.2</c:v>
                </c:pt>
                <c:pt idx="3">
                  <c:v>24.0</c:v>
                </c:pt>
                <c:pt idx="4">
                  <c:v>29.5</c:v>
                </c:pt>
                <c:pt idx="5">
                  <c:v>33.0</c:v>
                </c:pt>
                <c:pt idx="6">
                  <c:v>38.8</c:v>
                </c:pt>
                <c:pt idx="7">
                  <c:v>42.6</c:v>
                </c:pt>
                <c:pt idx="8">
                  <c:v>43.1</c:v>
                </c:pt>
                <c:pt idx="9">
                  <c:v>46.5</c:v>
                </c:pt>
                <c:pt idx="10">
                  <c:v>45.0</c:v>
                </c:pt>
                <c:pt idx="11">
                  <c:v>48.4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Алко + напої</c:v>
                </c:pt>
              </c:strCache>
            </c:strRef>
          </c:tx>
          <c:spPr>
            <a:solidFill>
              <a:srgbClr val="C9E74A"/>
            </a:solidFill>
          </c:spPr>
          <c:cat>
            <c:strRef>
              <c:f>Sheet1!$A$2:$A$13</c:f>
              <c:strCache>
                <c:ptCount val="12"/>
                <c:pt idx="0">
                  <c:v>Січ</c:v>
                </c:pt>
                <c:pt idx="1">
                  <c:v>Лют</c:v>
                </c:pt>
                <c:pt idx="2">
                  <c:v>Бер</c:v>
                </c:pt>
                <c:pt idx="3">
                  <c:v>Кві</c:v>
                </c:pt>
                <c:pt idx="4">
                  <c:v>Тра</c:v>
                </c:pt>
                <c:pt idx="5">
                  <c:v>Чер</c:v>
                </c:pt>
                <c:pt idx="6">
                  <c:v>Лип</c:v>
                </c:pt>
                <c:pt idx="7">
                  <c:v>Сер</c:v>
                </c:pt>
                <c:pt idx="8">
                  <c:v>Вер</c:v>
                </c:pt>
                <c:pt idx="9">
                  <c:v>Жов</c:v>
                </c:pt>
                <c:pt idx="10">
                  <c:v>Лис</c:v>
                </c:pt>
                <c:pt idx="11">
                  <c:v>Гру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5.9</c:v>
                </c:pt>
                <c:pt idx="9">
                  <c:v>6.3</c:v>
                </c:pt>
                <c:pt idx="10">
                  <c:v>6.1</c:v>
                </c:pt>
                <c:pt idx="11">
                  <c:v>6.6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СЦЕНАРІЙ 1 · ПЛАН ТОВАРООБІГУ ТА ВИМОГИ ДО КАТЕГОРІЇ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300" b="1" i="0">
                <a:solidFill>
                  <a:srgbClr val="14221A"/>
                </a:solidFill>
                <a:latin typeface="Arial"/>
              </a:rPr>
              <a:t>100 локацій · ready meals як окрема delivery-категорія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 i="0">
                <a:solidFill>
                  <a:srgbClr val="5F6C65"/>
                </a:solidFill>
                <a:latin typeface="Arial"/>
              </a:rPr>
              <a:t>Базовий forecast побудований на даних Сільпо та фактичних продажах кулінарії retail-партнерів Bolt Food. Planning FX: €1 = ₴50.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9164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34656" y="1819656"/>
            <a:ext cx="9784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БАЗОВИЙ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4656" y="2103120"/>
            <a:ext cx="9784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€407.5k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2560320"/>
            <a:ext cx="978408" cy="45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₴20.4m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9164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1819656"/>
            <a:ext cx="9784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КУЛІНАРІЯ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1976" y="2103120"/>
            <a:ext cx="9784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€382.6k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1976" y="2560320"/>
            <a:ext cx="978408" cy="45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₴19.1m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69164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9296" y="1819656"/>
            <a:ext cx="9784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ЗАМОВЛЕННЯ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9296" y="2103120"/>
            <a:ext cx="9784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30,610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9296" y="2560320"/>
            <a:ext cx="978408" cy="45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за 12 міс.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48640" y="1965960"/>
          <a:ext cx="66294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5074920"/>
            <a:ext cx="6492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70" b="0" i="0">
                <a:solidFill>
                  <a:srgbClr val="5F6C65"/>
                </a:solidFill>
                <a:latin typeface="Arial"/>
              </a:rPr>
              <a:t>Алкоголь і soft drinks закладені з вересня; за готовності можуть стартувати одразу або після 3-місячного пілота — GMV буде перерахований.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92608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FF7E5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6" y="3054096"/>
            <a:ext cx="381304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КОНСЕРВАТИВНИЙ СЦЕНАРІЙ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3337560"/>
            <a:ext cx="38130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€349.7k / ₴17.5m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794760"/>
            <a:ext cx="3813048" cy="-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Зрілий OSPD 1.00 · 26,379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3831335"/>
            <a:ext cx="381304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БАЗОВИЙ СЦЕНАРІЙ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4114800"/>
            <a:ext cx="38130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€407.5k / ₴20.4m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4572000"/>
            <a:ext cx="3813048" cy="-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Зрілий OSPD 1.25 · 30,610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48056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656" y="4608576"/>
            <a:ext cx="381304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ОПТИМІСТИЧНИЙ СЦЕНАРІЙ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4892040"/>
            <a:ext cx="38130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€581.1k / ₴29.1m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5349240"/>
            <a:ext cx="3813048" cy="-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Зрілий OSPD 2.00 · 43,303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394960"/>
            <a:ext cx="3931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ЩО ПОТРІБНО ДЛЯ КАТЕГОРІЇ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5650992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6" y="5779007"/>
            <a:ext cx="102412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КУЛІНАРІЯ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6089904"/>
            <a:ext cx="1024127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80 → 120 → 150 core SKU
Топ-SKU в наявності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96528" y="5650992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4544" y="5779007"/>
            <a:ext cx="102412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АЛКОГОЛЬ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6089904"/>
            <a:ext cx="1024127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25 SKU
legal + age-check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5650992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2" y="5779007"/>
            <a:ext cx="102412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SOFT DRINKS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6089904"/>
            <a:ext cx="1024127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20 SKU
30% attach target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537960"/>
            <a:ext cx="11091672" cy="9144"/>
          </a:xfrm>
          <a:prstGeom prst="rect">
            <a:avLst/>
          </a:prstGeom>
          <a:solidFill>
            <a:srgbClr val="D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583680"/>
            <a:ext cx="80467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650" b="0" i="0">
                <a:solidFill>
                  <a:srgbClr val="5F6C65"/>
                </a:solidFill>
                <a:latin typeface="Arial"/>
              </a:rPr>
              <a:t>Сільпо × Bolt Food · Commercial proposal · October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83680"/>
            <a:ext cx="6400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650" b="0" i="0">
                <a:solidFill>
                  <a:srgbClr val="5F6C6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СЦЕНАРІЙ 2 · КОМЕРЦІЙНА ПРОПОЗИЦІЯ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300" b="1" i="0">
                <a:solidFill>
                  <a:srgbClr val="14221A"/>
                </a:solidFill>
                <a:latin typeface="Arial"/>
              </a:rPr>
              <a:t>12% на stores + умовне зниження комісії Dark Kitchen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658368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10652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14221A"/>
                </a:solidFill>
                <a:latin typeface="Arial"/>
              </a:rPr>
              <a:t>12% на stores — мінімальна робоча ставка: вона покриває courier cost та операційне виконання, поки Bolt інвестує €55.2k у запуск і зберігає co-funding DK/resto.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59689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27685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М1–3 ·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60320"/>
            <a:ext cx="2340863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Stores: 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017520"/>
            <a:ext cx="2340863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DK працює за поточною ставкою 25%. Bolt керує запуском попиту та courier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2148840"/>
            <a:ext cx="259689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27685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КОНТРОЛЬНА ТОЧКА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560320"/>
            <a:ext cx="2340863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2,540 orders + €33k 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017520"/>
            <a:ext cx="2340863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Поріг stores за перші 3 місяці із погодженого базового rollout-плану.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3" y="2148840"/>
            <a:ext cx="2596896" cy="146304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227685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М4–12 · ЯКЩО ДОСЯГНУТО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2560320"/>
            <a:ext cx="2340863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DK: 25% →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3017520"/>
            <a:ext cx="2340863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Знижена ставка діє до кінця 12-місячного періоду.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2148840"/>
            <a:ext cx="259689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27685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ЯКЩО НЕ ДОСЯГНУТО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560320"/>
            <a:ext cx="2340863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DK: 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017520"/>
            <a:ext cx="2340863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Зниження не активується. Окремо погоджуємо recovery plan.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105655"/>
            <a:ext cx="32186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ЕКОНОМІЯ СІЛЬПО · 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389120"/>
            <a:ext cx="32186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€34.0k / ₴1.70m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846320"/>
            <a:ext cx="32186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М4–12: 5 в.п. (25% → 20%) для €679k / ₴34.0m DK товарообігу. Це 5% від GMV, на який діє зниження.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977639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4105655"/>
            <a:ext cx="32186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ЕКВІВАЛЕНТ ЗА ПОВНИЙ РІК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2544" y="4389120"/>
            <a:ext cx="32186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€45.3k / ₴2.26m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4846320"/>
            <a:ext cx="32186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Показово: 5% × €905.3k DK annual GMV. Не є умовою цього offer.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0416" y="3977639"/>
            <a:ext cx="3712463" cy="1051560"/>
          </a:xfrm>
          <a:prstGeom prst="roundRect">
            <a:avLst>
              <a:gd name="adj" fmla="val 8000"/>
            </a:avLst>
          </a:prstGeom>
          <a:solidFill>
            <a:srgbClr val="FFF7E5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2" y="4105655"/>
            <a:ext cx="3456431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КОМЕРЦІЙНА ЛОГІКА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4389120"/>
            <a:ext cx="3456431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Спочатку результат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2" y="4846320"/>
            <a:ext cx="3456431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Зниження DK — винагорода за доведений попит stores, а не upfront subsidy. Це захищає unit economics обох сторін.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94960"/>
            <a:ext cx="11064240" cy="676656"/>
          </a:xfrm>
          <a:prstGeom prst="roundRect">
            <a:avLst/>
          </a:prstGeom>
          <a:solidFill>
            <a:srgbClr val="FFF7E5"/>
          </a:solidFill>
          <a:ln w="12700">
            <a:solidFill>
              <a:srgbClr val="ECD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559552"/>
            <a:ext cx="106527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 i="0">
                <a:solidFill>
                  <a:srgbClr val="14221A"/>
                </a:solidFill>
                <a:latin typeface="Arial"/>
              </a:rPr>
              <a:t>Рекомендація для захисту прибутковості: для кулінарії stores допускаємо markup до 10% до ціни полиці Сільпо; alcohol та soft drinks погоджуємо окремо за category economics.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537960"/>
            <a:ext cx="11091672" cy="9144"/>
          </a:xfrm>
          <a:prstGeom prst="rect">
            <a:avLst/>
          </a:prstGeom>
          <a:solidFill>
            <a:srgbClr val="D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83680"/>
            <a:ext cx="80467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650" b="0" i="0">
                <a:solidFill>
                  <a:srgbClr val="5F6C65"/>
                </a:solidFill>
                <a:latin typeface="Arial"/>
              </a:rPr>
              <a:t>Сільпо × Bolt Food · Commercial proposal · October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83680"/>
            <a:ext cx="6400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650" b="0" i="0">
                <a:solidFill>
                  <a:srgbClr val="5F6C6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ЦІННІСТЬ ДЛЯ СІЛЬПО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300" b="1" i="0">
                <a:solidFill>
                  <a:srgbClr val="14221A"/>
                </a:solidFill>
                <a:latin typeface="Arial"/>
              </a:rPr>
              <a:t>Інвестиції Bolt, savings Сільпо та маркетинг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362456"/>
            <a:ext cx="23042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BOLT PLUS · 6 МІСЯЦІВ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45920"/>
            <a:ext cx="23042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€20.0k / ₴1.0m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103120"/>
            <a:ext cx="23042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Stores €5.4k + DK/resto €14.6k. Plus-клієнти мають вищий чек і частіші замовлення; ціль +10–15% GMV uplift.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234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1362456"/>
            <a:ext cx="23042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FREE DELIVERY · 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1645920"/>
            <a:ext cx="23042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€14.0k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103120"/>
            <a:ext cx="23042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6 із 12 місяців. Знімає delivery barrier у launch і стимулює перше та повторне замовлення.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234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362456"/>
            <a:ext cx="23042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PUBLIC LAUNCH +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645920"/>
            <a:ext cx="23042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14221A"/>
                </a:solidFill>
                <a:latin typeface="Arial"/>
              </a:rPr>
              <a:t>€21.2k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2103120"/>
            <a:ext cx="23042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€10.0k cash + €11.2k in-kind: banner, push/email, hero та modal.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23444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362456"/>
            <a:ext cx="2532887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НОВІ ІНВЕСТИЦІЇ BOLT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53288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0B8F50"/>
                </a:solidFill>
                <a:latin typeface="Arial"/>
              </a:rPr>
              <a:t>€55.2k / ₴2.76m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03120"/>
            <a:ext cx="2532887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13.5% від stores GMV; 4.2% від combined stores + DK GMV.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09728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МАРКЕТИНГОВИЙ ПЛАН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880360"/>
            <a:ext cx="2596896" cy="73152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00837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BOLT PLUS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319272"/>
            <a:ext cx="2340863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Free delivery для лояльної аудиторії з вищим чеком.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2880360"/>
            <a:ext cx="259689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300837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FREE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3319272"/>
            <a:ext cx="2340863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Знімає бар’єр першого замовлення у ready meals.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3" y="2880360"/>
            <a:ext cx="2596896" cy="731520"/>
          </a:xfrm>
          <a:prstGeom prst="roundRect">
            <a:avLst>
              <a:gd name="adj" fmla="val 8000"/>
            </a:avLst>
          </a:prstGeom>
          <a:solidFill>
            <a:srgbClr val="EDF8F1"/>
          </a:solidFill>
          <a:ln w="12700">
            <a:solidFill>
              <a:srgbClr val="BED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19" y="300837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SPONSORED LISTING · 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19" y="3319272"/>
            <a:ext cx="2340863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30% discount на чинний spend для додаткової видимості.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0536" y="2880360"/>
            <a:ext cx="259689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3008376"/>
            <a:ext cx="2340863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50" b="1" i="0">
                <a:solidFill>
                  <a:srgbClr val="5F6C65"/>
                </a:solidFill>
                <a:latin typeface="Arial"/>
              </a:rPr>
              <a:t>CO-FUNDING · DK/RESTO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319272"/>
            <a:ext cx="2340863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0">
                <a:solidFill>
                  <a:srgbClr val="5F6C65"/>
                </a:solidFill>
                <a:latin typeface="Arial"/>
              </a:rPr>
              <a:t>Чинна підтримка попиту €99.1k annual run-rate зберігається без змін.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13632"/>
            <a:ext cx="109728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 i="0">
                <a:solidFill>
                  <a:srgbClr val="0B8F50"/>
                </a:solidFill>
                <a:latin typeface="Arial"/>
              </a:rPr>
              <a:t>ПРИКЛАДИ ВИДИМОСТІ В BOLT FOOD</a:t>
            </a:r>
          </a:p>
        </p:txBody>
      </p:sp>
      <p:pic>
        <p:nvPicPr>
          <p:cNvPr id="34" name="Picture 33" descr="launch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87952"/>
            <a:ext cx="2103120" cy="1691640"/>
          </a:xfrm>
          <a:prstGeom prst="rect">
            <a:avLst/>
          </a:prstGeom>
        </p:spPr>
      </p:pic>
      <p:pic>
        <p:nvPicPr>
          <p:cNvPr id="35" name="Picture 34" descr="hom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187952"/>
            <a:ext cx="2103120" cy="1691640"/>
          </a:xfrm>
          <a:prstGeom prst="rect">
            <a:avLst/>
          </a:prstGeom>
        </p:spPr>
      </p:pic>
      <p:pic>
        <p:nvPicPr>
          <p:cNvPr id="36" name="Picture 35" descr="in-app-off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187952"/>
            <a:ext cx="2103120" cy="1691640"/>
          </a:xfrm>
          <a:prstGeom prst="rect">
            <a:avLst/>
          </a:prstGeom>
        </p:spPr>
      </p:pic>
      <p:pic>
        <p:nvPicPr>
          <p:cNvPr id="37" name="Picture 36" descr="store-c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187952"/>
            <a:ext cx="2103120" cy="1691640"/>
          </a:xfrm>
          <a:prstGeom prst="rect">
            <a:avLst/>
          </a:prstGeom>
        </p:spPr>
      </p:pic>
      <p:pic>
        <p:nvPicPr>
          <p:cNvPr id="38" name="Picture 37" descr="email-lau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4187952"/>
            <a:ext cx="1737360" cy="16916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8640" y="5989320"/>
            <a:ext cx="10972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50" b="0" i="1">
                <a:solidFill>
                  <a:srgbClr val="5F6C65"/>
                </a:solidFill>
                <a:latin typeface="Arial"/>
              </a:rPr>
              <a:t>Bolt працює як платформа попиту: фокусує marketing inventory, Plus і free delivery на категорії та керує courier allocation у пікові lunch/dinner періоди.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537960"/>
            <a:ext cx="11091672" cy="9144"/>
          </a:xfrm>
          <a:prstGeom prst="rect">
            <a:avLst/>
          </a:prstGeom>
          <a:solidFill>
            <a:srgbClr val="D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83680"/>
            <a:ext cx="80467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650" b="0" i="0">
                <a:solidFill>
                  <a:srgbClr val="5F6C65"/>
                </a:solidFill>
                <a:latin typeface="Arial"/>
              </a:rPr>
              <a:t>Сільпо × Bolt Food · Commercial proposal · October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83680"/>
            <a:ext cx="6400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650" b="0" i="0">
                <a:solidFill>
                  <a:srgbClr val="5F6C6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